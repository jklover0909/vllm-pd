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6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84048"/>
            <a:ext cx="594360" cy="347472"/>
          </a:xfrm>
          <a:prstGeom prst="roundRect">
            <a:avLst/>
          </a:prstGeom>
          <a:solidFill>
            <a:srgbClr val="93D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59436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171917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329184"/>
            <a:ext cx="713232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500" b="1">
                <a:solidFill>
                  <a:srgbClr val="171917"/>
                </a:solidFill>
                <a:latin typeface="Aptos"/>
              </a:rPr>
              <a:t>Bài toán và bối cảnh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786384"/>
            <a:ext cx="841248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656C65"/>
                </a:solidFill>
                <a:latin typeface="Aptos"/>
              </a:rPr>
              <a:t>Từ nhu cầu hỏi đáp tài liệu đến hệ thống RAG + Coding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18288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>
                <a:solidFill>
                  <a:srgbClr val="656C65"/>
                </a:solidFill>
                <a:latin typeface="Aptos"/>
              </a:rPr>
              <a:t>VLLM-PD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446520"/>
            <a:ext cx="100584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56C65"/>
                </a:solidFill>
                <a:latin typeface="Aptos"/>
              </a:rPr>
              <a:t>1/12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508760"/>
            <a:ext cx="521208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709928"/>
            <a:ext cx="47548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2E6B39"/>
                </a:solidFill>
                <a:latin typeface="Aptos"/>
              </a:rPr>
              <a:t>Nhu cầu chính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2221991"/>
            <a:ext cx="4709160" cy="30358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02420"/>
                </a:solidFill>
                <a:latin typeface="Aptos"/>
              </a:defRPr>
            </a:pPr>
            <a:r>
              <a:t>Tài liệu nhiều định dạng, cần hỏi đáp có nguồn trích dẫn</a:t>
            </a:r>
          </a:p>
          <a:p>
            <a:pPr>
              <a:spcAft>
                <a:spcPts val="800"/>
              </a:spcAft>
              <a:defRPr sz="1600">
                <a:solidFill>
                  <a:srgbClr val="202420"/>
                </a:solidFill>
                <a:latin typeface="Aptos"/>
              </a:defRPr>
            </a:pPr>
            <a:r>
              <a:t>Người dùng cần chọn model: local hoặc cloud</a:t>
            </a:r>
          </a:p>
          <a:p>
            <a:pPr>
              <a:spcAft>
                <a:spcPts val="800"/>
              </a:spcAft>
              <a:defRPr sz="1600">
                <a:solidFill>
                  <a:srgbClr val="202420"/>
                </a:solidFill>
                <a:latin typeface="Aptos"/>
              </a:defRPr>
            </a:pPr>
            <a:r>
              <a:t>Coding Agent cần API riêng để gọi tác vụ lập trình</a:t>
            </a:r>
          </a:p>
          <a:p>
            <a:pPr>
              <a:spcAft>
                <a:spcPts val="800"/>
              </a:spcAft>
              <a:defRPr sz="1600">
                <a:solidFill>
                  <a:srgbClr val="202420"/>
                </a:solidFill>
                <a:latin typeface="Aptos"/>
              </a:defRPr>
            </a:pPr>
            <a:r>
              <a:t>Ba máy phải phối hợp qua một public URL dễ dùng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37960" y="1600200"/>
            <a:ext cx="20116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47688" y="1719072"/>
            <a:ext cx="1792224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1">
                <a:solidFill>
                  <a:srgbClr val="171917"/>
                </a:solidFill>
                <a:latin typeface="Aptos"/>
              </a:rPr>
              <a:t>RAG tài liệu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02552" y="2075688"/>
            <a:ext cx="1682496" cy="39319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50" b="0">
                <a:solidFill>
                  <a:srgbClr val="656C65"/>
                </a:solidFill>
                <a:latin typeface="Aptos"/>
              </a:rPr>
              <a:t>Answer có nguồn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15400" y="1600200"/>
            <a:ext cx="20116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25128" y="1719072"/>
            <a:ext cx="1792224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1">
                <a:solidFill>
                  <a:srgbClr val="171917"/>
                </a:solidFill>
                <a:latin typeface="Aptos"/>
              </a:rPr>
              <a:t>Model routing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79992" y="2075688"/>
            <a:ext cx="1682496" cy="39319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50" b="0">
                <a:solidFill>
                  <a:srgbClr val="656C65"/>
                </a:solidFill>
                <a:latin typeface="Aptos"/>
              </a:rPr>
              <a:t>Local + cloud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37960" y="3063240"/>
            <a:ext cx="20116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47688" y="3182112"/>
            <a:ext cx="1792224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1">
                <a:solidFill>
                  <a:srgbClr val="171917"/>
                </a:solidFill>
                <a:latin typeface="Aptos"/>
              </a:rPr>
              <a:t>Web public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02552" y="3538728"/>
            <a:ext cx="1682496" cy="39319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50" b="0">
                <a:solidFill>
                  <a:srgbClr val="656C65"/>
                </a:solidFill>
                <a:latin typeface="Aptos"/>
              </a:rPr>
              <a:t>Một URL duy nhất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15400" y="3063240"/>
            <a:ext cx="20116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25128" y="3182112"/>
            <a:ext cx="1792224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1">
                <a:solidFill>
                  <a:srgbClr val="171917"/>
                </a:solidFill>
                <a:latin typeface="Aptos"/>
              </a:rPr>
              <a:t>Coding Agent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79992" y="3538728"/>
            <a:ext cx="1682496" cy="39319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50" b="0">
                <a:solidFill>
                  <a:srgbClr val="656C65"/>
                </a:solidFill>
                <a:latin typeface="Aptos"/>
              </a:rPr>
              <a:t>API có khóa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709160"/>
            <a:ext cx="4434840" cy="594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1">
                <a:solidFill>
                  <a:srgbClr val="2E6B39"/>
                </a:solidFill>
                <a:latin typeface="Aptos"/>
              </a:rPr>
              <a:t>Không chỉ là chatbot: đây là nền tảng RAG + model router + agent có ranh giới bảo mật.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6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84048"/>
            <a:ext cx="594360" cy="347472"/>
          </a:xfrm>
          <a:prstGeom prst="roundRect">
            <a:avLst/>
          </a:prstGeom>
          <a:solidFill>
            <a:srgbClr val="93D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59436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171917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329184"/>
            <a:ext cx="713232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500" b="1">
                <a:solidFill>
                  <a:srgbClr val="171917"/>
                </a:solidFill>
                <a:latin typeface="Aptos"/>
              </a:rPr>
              <a:t>Mục tiêu hệ thống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786384"/>
            <a:ext cx="841248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656C65"/>
                </a:solidFill>
                <a:latin typeface="Aptos"/>
              </a:rPr>
              <a:t>Một nền tảng web/API dùng được thật trên Máy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18288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>
                <a:solidFill>
                  <a:srgbClr val="656C65"/>
                </a:solidFill>
                <a:latin typeface="Aptos"/>
              </a:rPr>
              <a:t>VLLM-PD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446520"/>
            <a:ext cx="100584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56C65"/>
                </a:solidFill>
                <a:latin typeface="Aptos"/>
              </a:rPr>
              <a:t>2/12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417320"/>
            <a:ext cx="516636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618488"/>
            <a:ext cx="47091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2E6B39"/>
                </a:solidFill>
                <a:latin typeface="Aptos"/>
              </a:rPr>
              <a:t>Mục tiêu thiết kế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2130552"/>
            <a:ext cx="4663440" cy="331012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02420"/>
                </a:solidFill>
                <a:latin typeface="Aptos"/>
              </a:defRPr>
            </a:pPr>
            <a:r>
              <a:t>Một public URL cho cả web và API</a:t>
            </a:r>
          </a:p>
          <a:p>
            <a:pPr>
              <a:spcAft>
                <a:spcPts val="800"/>
              </a:spcAft>
              <a:defRPr sz="1500">
                <a:solidFill>
                  <a:srgbClr val="202420"/>
                </a:solidFill>
                <a:latin typeface="Aptos"/>
              </a:defRPr>
            </a:pPr>
            <a:r>
              <a:t>Upload, index và nghiên cứu tài liệu</a:t>
            </a:r>
          </a:p>
          <a:p>
            <a:pPr>
              <a:spcAft>
                <a:spcPts val="800"/>
              </a:spcAft>
              <a:defRPr sz="1500">
                <a:solidFill>
                  <a:srgbClr val="202420"/>
                </a:solidFill>
                <a:latin typeface="Aptos"/>
              </a:defRPr>
            </a:pPr>
            <a:r>
              <a:t>Model selector: tự động, local, MiMo, OpenAI</a:t>
            </a:r>
          </a:p>
          <a:p>
            <a:pPr>
              <a:spcAft>
                <a:spcPts val="800"/>
              </a:spcAft>
              <a:defRPr sz="1500">
                <a:solidFill>
                  <a:srgbClr val="202420"/>
                </a:solidFill>
                <a:latin typeface="Aptos"/>
              </a:defRPr>
            </a:pPr>
            <a:r>
              <a:t>Ưu tiên local, fallback cloud khi cần</a:t>
            </a:r>
          </a:p>
          <a:p>
            <a:pPr>
              <a:spcAft>
                <a:spcPts val="800"/>
              </a:spcAft>
              <a:defRPr sz="1500">
                <a:solidFill>
                  <a:srgbClr val="202420"/>
                </a:solidFill>
                <a:latin typeface="Aptos"/>
              </a:defRPr>
            </a:pPr>
            <a:r>
              <a:t>Agent được tách riêng và bảo vệ bằng API key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1417320"/>
            <a:ext cx="3977639" cy="749808"/>
          </a:xfrm>
          <a:prstGeom prst="roundRect">
            <a:avLst/>
          </a:prstGeom>
          <a:solidFill>
            <a:srgbClr val="DDEDDF"/>
          </a:solidFill>
          <a:ln w="12700">
            <a:solidFill>
              <a:srgbClr val="D7D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1968" y="1536192"/>
            <a:ext cx="3758183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1">
                <a:solidFill>
                  <a:srgbClr val="171917"/>
                </a:solidFill>
                <a:latin typeface="Aptos"/>
              </a:rPr>
              <a:t>Public URL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56831" y="1892808"/>
            <a:ext cx="3648456" cy="18287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50" b="0">
                <a:solidFill>
                  <a:srgbClr val="656C65"/>
                </a:solidFill>
                <a:latin typeface="Aptos"/>
              </a:rPr>
              <a:t>Port 8001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2468880"/>
            <a:ext cx="3977639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2587752"/>
            <a:ext cx="3758183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1">
                <a:solidFill>
                  <a:srgbClr val="171917"/>
                </a:solidFill>
                <a:latin typeface="Aptos"/>
              </a:rPr>
              <a:t>Internal LLM Router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56831" y="2944368"/>
            <a:ext cx="3648456" cy="18287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50" b="0">
                <a:solidFill>
                  <a:srgbClr val="656C65"/>
                </a:solidFill>
                <a:latin typeface="Aptos"/>
              </a:rPr>
              <a:t>LiteLLM :4000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3520439"/>
            <a:ext cx="3977639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01968" y="3639311"/>
            <a:ext cx="3758183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1">
                <a:solidFill>
                  <a:srgbClr val="171917"/>
                </a:solidFill>
                <a:latin typeface="Aptos"/>
              </a:rPr>
              <a:t>Vector DB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56831" y="3995927"/>
            <a:ext cx="3648456" cy="18287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50" b="0">
                <a:solidFill>
                  <a:srgbClr val="656C65"/>
                </a:solidFill>
                <a:latin typeface="Aptos"/>
              </a:rPr>
              <a:t>Qdrant :6333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4572000"/>
            <a:ext cx="3977639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01968" y="4690872"/>
            <a:ext cx="3758183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1">
                <a:solidFill>
                  <a:srgbClr val="171917"/>
                </a:solidFill>
                <a:latin typeface="Aptos"/>
              </a:rPr>
              <a:t>Agent 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56831" y="5047488"/>
            <a:ext cx="3648456" cy="18287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50" b="0">
                <a:solidFill>
                  <a:srgbClr val="656C65"/>
                </a:solidFill>
                <a:latin typeface="Aptos"/>
              </a:rPr>
              <a:t>X-Agent-API-Key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6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84048"/>
            <a:ext cx="594360" cy="347472"/>
          </a:xfrm>
          <a:prstGeom prst="roundRect">
            <a:avLst/>
          </a:prstGeom>
          <a:solidFill>
            <a:srgbClr val="93D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59436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171917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329184"/>
            <a:ext cx="713232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500" b="1">
                <a:solidFill>
                  <a:srgbClr val="171917"/>
                </a:solidFill>
                <a:latin typeface="Aptos"/>
              </a:rPr>
              <a:t>Công nghệ sử dụng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786384"/>
            <a:ext cx="841248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656C65"/>
                </a:solidFill>
                <a:latin typeface="Aptos"/>
              </a:rPr>
              <a:t>Chia theo tầng để thấy rõ vai trò từng thành phần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18288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>
                <a:solidFill>
                  <a:srgbClr val="656C65"/>
                </a:solidFill>
                <a:latin typeface="Aptos"/>
              </a:rPr>
              <a:t>VLLM-PD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446520"/>
            <a:ext cx="100584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56C65"/>
                </a:solidFill>
                <a:latin typeface="Aptos"/>
              </a:rPr>
              <a:t>3/12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914400" y="1417320"/>
          <a:ext cx="103327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321040"/>
              </a:tblGrid>
              <a:tr h="627017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Tầng</a:t>
                      </a:r>
                    </a:p>
                  </a:txBody>
                  <a:tcPr>
                    <a:solidFill>
                      <a:srgbClr val="1719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Công nghệ</a:t>
                      </a:r>
                    </a:p>
                  </a:txBody>
                  <a:tcPr>
                    <a:solidFill>
                      <a:srgbClr val="171917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2420"/>
                          </a:solidFill>
                          <a:latin typeface="Aptos"/>
                        </a:rPr>
                        <a:t>Frontend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02420"/>
                          </a:solidFill>
                          <a:latin typeface="Aptos"/>
                        </a:rPr>
                        <a:t>React, Vite, lucide-react, react-markdown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2420"/>
                          </a:solidFill>
                          <a:latin typeface="Aptos"/>
                        </a:rPr>
                        <a:t>API</a:t>
                      </a:r>
                    </a:p>
                  </a:txBody>
                  <a:tcPr>
                    <a:solidFill>
                      <a:srgbClr val="F0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02420"/>
                          </a:solidFill>
                          <a:latin typeface="Aptos"/>
                        </a:rPr>
                        <a:t>FastAPI, SSE streaming, Pydantic</a:t>
                      </a:r>
                    </a:p>
                  </a:txBody>
                  <a:tcPr>
                    <a:solidFill>
                      <a:srgbClr val="F0F3EE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2420"/>
                          </a:solidFill>
                          <a:latin typeface="Aptos"/>
                        </a:rPr>
                        <a:t>RAG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02420"/>
                          </a:solidFill>
                          <a:latin typeface="Aptos"/>
                        </a:rPr>
                        <a:t>Docling, BGE-M3, Qdrant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2420"/>
                          </a:solidFill>
                          <a:latin typeface="Aptos"/>
                        </a:rPr>
                        <a:t>Router</a:t>
                      </a:r>
                    </a:p>
                  </a:txBody>
                  <a:tcPr>
                    <a:solidFill>
                      <a:srgbClr val="F0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02420"/>
                          </a:solidFill>
                          <a:latin typeface="Aptos"/>
                        </a:rPr>
                        <a:t>LiteLLM OpenAI-compatible proxy</a:t>
                      </a:r>
                    </a:p>
                  </a:txBody>
                  <a:tcPr>
                    <a:solidFill>
                      <a:srgbClr val="F0F3EE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2420"/>
                          </a:solidFill>
                          <a:latin typeface="Aptos"/>
                        </a:rPr>
                        <a:t>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02420"/>
                          </a:solidFill>
                          <a:latin typeface="Aptos"/>
                        </a:rPr>
                        <a:t>LangGraph, MCP filesystem/git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2420"/>
                          </a:solidFill>
                          <a:latin typeface="Aptos"/>
                        </a:rPr>
                        <a:t>Infra</a:t>
                      </a:r>
                    </a:p>
                  </a:txBody>
                  <a:tcPr>
                    <a:solidFill>
                      <a:srgbClr val="F0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02420"/>
                          </a:solidFill>
                          <a:latin typeface="Aptos"/>
                        </a:rPr>
                        <a:t>Docker Compose, systemd user service, ngrok</a:t>
                      </a:r>
                    </a:p>
                  </a:txBody>
                  <a:tcPr>
                    <a:solidFill>
                      <a:srgbClr val="F0F3EE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14400" y="5989320"/>
            <a:ext cx="103327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0">
                <a:solidFill>
                  <a:srgbClr val="656C65"/>
                </a:solidFill>
                <a:latin typeface="Aptos"/>
              </a:rPr>
              <a:t>Mỗi công nghệ có một vai trò cụ thể trong pipeline, không phải danh sách rời rạc.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6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84048"/>
            <a:ext cx="594360" cy="347472"/>
          </a:xfrm>
          <a:prstGeom prst="roundRect">
            <a:avLst/>
          </a:prstGeom>
          <a:solidFill>
            <a:srgbClr val="93D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59436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171917"/>
                </a:solidFill>
                <a:latin typeface="Apto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329184"/>
            <a:ext cx="713232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500" b="1">
                <a:solidFill>
                  <a:srgbClr val="171917"/>
                </a:solidFill>
                <a:latin typeface="Aptos"/>
              </a:rPr>
              <a:t>Model và API model routing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786384"/>
            <a:ext cx="841248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656C65"/>
                </a:solidFill>
                <a:latin typeface="Aptos"/>
              </a:rPr>
              <a:t>Frontend chọn model logic, LiteLLM định tuyến provider phía sau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18288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>
                <a:solidFill>
                  <a:srgbClr val="656C65"/>
                </a:solidFill>
                <a:latin typeface="Aptos"/>
              </a:rPr>
              <a:t>VLLM-PD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446520"/>
            <a:ext cx="100584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56C65"/>
                </a:solidFill>
                <a:latin typeface="Aptos"/>
              </a:rPr>
              <a:t>4/12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85800" y="1325880"/>
          <a:ext cx="1083564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2560320"/>
                <a:gridCol w="6355080"/>
              </a:tblGrid>
              <a:tr h="65532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Lựa chọn</a:t>
                      </a:r>
                    </a:p>
                  </a:txBody>
                  <a:tcPr>
                    <a:solidFill>
                      <a:srgbClr val="1719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Model group</a:t>
                      </a:r>
                    </a:p>
                  </a:txBody>
                  <a:tcPr>
                    <a:solidFill>
                      <a:srgbClr val="1719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Backend</a:t>
                      </a:r>
                    </a:p>
                  </a:txBody>
                  <a:tcPr>
                    <a:solidFill>
                      <a:srgbClr val="171917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420"/>
                          </a:solidFill>
                          <a:latin typeface="Aptos"/>
                        </a:rPr>
                        <a:t>Tự động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02420"/>
                          </a:solidFill>
                          <a:latin typeface="Aptos"/>
                        </a:rPr>
                        <a:t>auto-model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02420"/>
                          </a:solidFill>
                          <a:latin typeface="Aptos"/>
                        </a:rPr>
                        <a:t>Gemma4 -&gt; MiMo -&gt; OpenAI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420"/>
                          </a:solidFill>
                          <a:latin typeface="Aptos"/>
                        </a:rPr>
                        <a:t>Gemma4 Local</a:t>
                      </a:r>
                    </a:p>
                  </a:txBody>
                  <a:tcPr>
                    <a:solidFill>
                      <a:srgbClr val="F0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02420"/>
                          </a:solidFill>
                          <a:latin typeface="Aptos"/>
                        </a:rPr>
                        <a:t>local-gemma</a:t>
                      </a:r>
                    </a:p>
                  </a:txBody>
                  <a:tcPr>
                    <a:solidFill>
                      <a:srgbClr val="F0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02420"/>
                          </a:solidFill>
                          <a:latin typeface="Aptos"/>
                        </a:rPr>
                        <a:t>Ollama/Gemma4 trên Máy 1</a:t>
                      </a:r>
                    </a:p>
                  </a:txBody>
                  <a:tcPr>
                    <a:solidFill>
                      <a:srgbClr val="F0F3EE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420"/>
                          </a:solidFill>
                          <a:latin typeface="Aptos"/>
                        </a:rPr>
                        <a:t>MiMo 2.5 Pro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02420"/>
                          </a:solidFill>
                          <a:latin typeface="Aptos"/>
                        </a:rPr>
                        <a:t>mimo-pro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02420"/>
                          </a:solidFill>
                          <a:latin typeface="Aptos"/>
                        </a:rPr>
                        <a:t>Xiaomi MiMo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420"/>
                          </a:solidFill>
                          <a:latin typeface="Aptos"/>
                        </a:rPr>
                        <a:t>OpenAI</a:t>
                      </a:r>
                    </a:p>
                  </a:txBody>
                  <a:tcPr>
                    <a:solidFill>
                      <a:srgbClr val="F0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02420"/>
                          </a:solidFill>
                          <a:latin typeface="Aptos"/>
                        </a:rPr>
                        <a:t>openai-model</a:t>
                      </a:r>
                    </a:p>
                  </a:txBody>
                  <a:tcPr>
                    <a:solidFill>
                      <a:srgbClr val="F0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02420"/>
                          </a:solidFill>
                          <a:latin typeface="Aptos"/>
                        </a:rPr>
                        <a:t>GPT-5.4 mini</a:t>
                      </a:r>
                    </a:p>
                  </a:txBody>
                  <a:tcPr>
                    <a:solidFill>
                      <a:srgbClr val="F0F3EE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420"/>
                          </a:solidFill>
                          <a:latin typeface="Aptos"/>
                        </a:rPr>
                        <a:t>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02420"/>
                          </a:solidFill>
                          <a:latin typeface="Aptos"/>
                        </a:rPr>
                        <a:t>coding-model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02420"/>
                          </a:solidFill>
                          <a:latin typeface="Aptos"/>
                        </a:rPr>
                        <a:t>Gemma4 -&gt; OpenAI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1188720" y="5532120"/>
            <a:ext cx="2103120" cy="640080"/>
          </a:xfrm>
          <a:prstGeom prst="roundRect">
            <a:avLst/>
          </a:prstGeom>
          <a:solidFill>
            <a:srgbClr val="DDEDDF"/>
          </a:solidFill>
          <a:ln w="12700">
            <a:solidFill>
              <a:srgbClr val="D7D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5650992"/>
            <a:ext cx="1883663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1">
                <a:solidFill>
                  <a:srgbClr val="171917"/>
                </a:solidFill>
                <a:latin typeface="Aptos"/>
              </a:rPr>
              <a:t>UI option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53312" y="6007608"/>
            <a:ext cx="1773936" cy="73151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50" b="0">
                <a:solidFill>
                  <a:srgbClr val="656C65"/>
                </a:solidFill>
                <a:latin typeface="Aptos"/>
              </a:rPr>
              <a:t>auto / local / mimo / openai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383280" y="5852160"/>
            <a:ext cx="914400" cy="0"/>
          </a:xfrm>
          <a:prstGeom prst="line">
            <a:avLst/>
          </a:prstGeom>
          <a:ln w="25400">
            <a:solidFill>
              <a:srgbClr val="2E6B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389120" y="5532120"/>
            <a:ext cx="21031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98848" y="5650992"/>
            <a:ext cx="1883663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1">
                <a:solidFill>
                  <a:srgbClr val="171917"/>
                </a:solidFill>
                <a:latin typeface="Aptos"/>
              </a:rPr>
              <a:t>Backend route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3712" y="6007608"/>
            <a:ext cx="1773936" cy="73151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50" b="0">
                <a:solidFill>
                  <a:srgbClr val="656C65"/>
                </a:solidFill>
                <a:latin typeface="Aptos"/>
              </a:rPr>
              <a:t>MODEL_ROUTES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583680" y="5852160"/>
            <a:ext cx="914399" cy="0"/>
          </a:xfrm>
          <a:prstGeom prst="line">
            <a:avLst/>
          </a:prstGeom>
          <a:ln w="25400">
            <a:solidFill>
              <a:srgbClr val="2E6B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589520" y="5532120"/>
            <a:ext cx="25603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99248" y="5650992"/>
            <a:ext cx="2340863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1">
                <a:solidFill>
                  <a:srgbClr val="171917"/>
                </a:solidFill>
                <a:latin typeface="Aptos"/>
              </a:rPr>
              <a:t>LiteLLM group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54112" y="6007608"/>
            <a:ext cx="2231136" cy="73151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50" b="0">
                <a:solidFill>
                  <a:srgbClr val="656C65"/>
                </a:solidFill>
                <a:latin typeface="Aptos"/>
              </a:rPr>
              <a:t>provider + fallback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6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84048"/>
            <a:ext cx="594360" cy="347472"/>
          </a:xfrm>
          <a:prstGeom prst="roundRect">
            <a:avLst/>
          </a:prstGeom>
          <a:solidFill>
            <a:srgbClr val="93D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59436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171917"/>
                </a:solidFill>
                <a:latin typeface="Aptos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329184"/>
            <a:ext cx="713232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500" b="1">
                <a:solidFill>
                  <a:srgbClr val="171917"/>
                </a:solidFill>
                <a:latin typeface="Aptos"/>
              </a:rPr>
              <a:t>Kiến trúc tổng thể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786384"/>
            <a:ext cx="841248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656C65"/>
                </a:solidFill>
                <a:latin typeface="Aptos"/>
              </a:rPr>
              <a:t>Public một cổng 8001, giữ LiteLLM và Qdrant nội bộ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18288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>
                <a:solidFill>
                  <a:srgbClr val="656C65"/>
                </a:solidFill>
                <a:latin typeface="Aptos"/>
              </a:rPr>
              <a:t>VLLM-PD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446520"/>
            <a:ext cx="100584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56C65"/>
                </a:solidFill>
                <a:latin typeface="Aptos"/>
              </a:rPr>
              <a:t>5/12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68880"/>
            <a:ext cx="21031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587752"/>
            <a:ext cx="1883663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1">
                <a:solidFill>
                  <a:srgbClr val="171917"/>
                </a:solidFill>
                <a:latin typeface="Aptos"/>
              </a:rPr>
              <a:t>Máy 3 / User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2944368"/>
            <a:ext cx="1773936" cy="43891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50" b="0">
                <a:solidFill>
                  <a:srgbClr val="656C65"/>
                </a:solidFill>
                <a:latin typeface="Aptos"/>
              </a:rPr>
              <a:t>Browser hoặc coding client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94760" y="1554480"/>
            <a:ext cx="2926080" cy="2377440"/>
          </a:xfrm>
          <a:prstGeom prst="roundRect">
            <a:avLst/>
          </a:prstGeom>
          <a:solidFill>
            <a:srgbClr val="DDEDDF"/>
          </a:solidFill>
          <a:ln w="12700">
            <a:solidFill>
              <a:srgbClr val="D7D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04488" y="1673352"/>
            <a:ext cx="2706624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171917"/>
                </a:solidFill>
                <a:latin typeface="Aptos"/>
              </a:rPr>
              <a:t>Máy 2: FastAPI :8001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59352" y="2029967"/>
            <a:ext cx="2596896" cy="181051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50" b="0">
                <a:solidFill>
                  <a:srgbClr val="656C65"/>
                </a:solidFill>
                <a:latin typeface="Aptos"/>
              </a:rPr>
              <a:t>React SPA</a:t>
            </a:r>
            <a:br/>
            <a:r>
              <a:t>REST/SSE API</a:t>
            </a:r>
            <a:br/>
            <a:r>
              <a:t>RAG + Agent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1143000"/>
            <a:ext cx="27432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73567" y="1261872"/>
            <a:ext cx="2523744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1">
                <a:solidFill>
                  <a:srgbClr val="171917"/>
                </a:solidFill>
                <a:latin typeface="Aptos"/>
              </a:rPr>
              <a:t>LiteLLM :4000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28431" y="1618488"/>
            <a:ext cx="2414016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50" b="0">
                <a:solidFill>
                  <a:srgbClr val="656C65"/>
                </a:solidFill>
                <a:latin typeface="Aptos"/>
              </a:rPr>
              <a:t>Internal only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60920" y="2880360"/>
            <a:ext cx="17373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70648" y="2999232"/>
            <a:ext cx="1517904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1">
                <a:solidFill>
                  <a:srgbClr val="171917"/>
                </a:solidFill>
                <a:latin typeface="Aptos"/>
              </a:rPr>
              <a:t>Qdrant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25512" y="3355848"/>
            <a:ext cx="1408176" cy="210311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50" b="0">
                <a:solidFill>
                  <a:srgbClr val="656C65"/>
                </a:solidFill>
                <a:latin typeface="Aptos"/>
              </a:rPr>
              <a:t>:6333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64040" y="2880360"/>
            <a:ext cx="17373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73767" y="2999232"/>
            <a:ext cx="1517904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1">
                <a:solidFill>
                  <a:srgbClr val="171917"/>
                </a:solidFill>
                <a:latin typeface="Aptos"/>
              </a:rPr>
              <a:t>BGE-M3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28632" y="3355848"/>
            <a:ext cx="1408176" cy="210311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50" b="0">
                <a:solidFill>
                  <a:srgbClr val="656C65"/>
                </a:solidFill>
                <a:latin typeface="Aptos"/>
              </a:rPr>
              <a:t>Embedding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29400" y="4572000"/>
            <a:ext cx="16459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39128" y="4690872"/>
            <a:ext cx="1426464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1">
                <a:solidFill>
                  <a:srgbClr val="171917"/>
                </a:solidFill>
                <a:latin typeface="Aptos"/>
              </a:rPr>
              <a:t>Máy 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93992" y="5047488"/>
            <a:ext cx="1316736" cy="16459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50" b="0">
                <a:solidFill>
                  <a:srgbClr val="656C65"/>
                </a:solidFill>
                <a:latin typeface="Aptos"/>
              </a:rPr>
              <a:t>Gemma4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49640" y="4572000"/>
            <a:ext cx="16459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59367" y="4690872"/>
            <a:ext cx="1426464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1">
                <a:solidFill>
                  <a:srgbClr val="171917"/>
                </a:solidFill>
                <a:latin typeface="Aptos"/>
              </a:rPr>
              <a:t>MiMo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14232" y="5047488"/>
            <a:ext cx="1316736" cy="16459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50" b="0">
                <a:solidFill>
                  <a:srgbClr val="656C65"/>
                </a:solidFill>
                <a:latin typeface="Aptos"/>
              </a:rPr>
              <a:t>Cloud API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469880" y="4572000"/>
            <a:ext cx="132588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79607" y="4690872"/>
            <a:ext cx="1106424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1">
                <a:solidFill>
                  <a:srgbClr val="171917"/>
                </a:solidFill>
                <a:latin typeface="Aptos"/>
              </a:rPr>
              <a:t>OpenAI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34472" y="5047488"/>
            <a:ext cx="996695" cy="16459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50" b="0">
                <a:solidFill>
                  <a:srgbClr val="656C65"/>
                </a:solidFill>
                <a:latin typeface="Aptos"/>
              </a:rPr>
              <a:t>API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743200" y="2971800"/>
            <a:ext cx="1024128" cy="0"/>
          </a:xfrm>
          <a:prstGeom prst="line">
            <a:avLst/>
          </a:prstGeom>
          <a:ln w="31750">
            <a:solidFill>
              <a:srgbClr val="2E6B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2834640" y="2578608"/>
            <a:ext cx="82296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656C65"/>
                </a:solidFill>
                <a:latin typeface="Aptos"/>
              </a:rPr>
              <a:t>ngrok</a:t>
            </a:r>
          </a:p>
        </p:txBody>
      </p:sp>
      <p:cxnSp>
        <p:nvCxnSpPr>
          <p:cNvPr id="36" name="Connector 35"/>
          <p:cNvCxnSpPr/>
          <p:nvPr/>
        </p:nvCxnSpPr>
        <p:spPr>
          <a:xfrm flipV="1">
            <a:off x="6720840" y="1600200"/>
            <a:ext cx="1097280" cy="457200"/>
          </a:xfrm>
          <a:prstGeom prst="line">
            <a:avLst/>
          </a:prstGeom>
          <a:ln w="25400">
            <a:solidFill>
              <a:srgbClr val="2E6B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720840" y="2880360"/>
            <a:ext cx="594360" cy="365760"/>
          </a:xfrm>
          <a:prstGeom prst="line">
            <a:avLst/>
          </a:prstGeom>
          <a:ln w="25400">
            <a:solidFill>
              <a:srgbClr val="2E6B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720840" y="3246120"/>
            <a:ext cx="2697480" cy="0"/>
          </a:xfrm>
          <a:prstGeom prst="line">
            <a:avLst/>
          </a:prstGeom>
          <a:ln w="25400">
            <a:solidFill>
              <a:srgbClr val="2E6B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7452360" y="2057400"/>
            <a:ext cx="777240" cy="2496312"/>
          </a:xfrm>
          <a:prstGeom prst="line">
            <a:avLst/>
          </a:prstGeom>
          <a:ln w="25400">
            <a:solidFill>
              <a:srgbClr val="2E6B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9144000" y="2057400"/>
            <a:ext cx="91440" cy="2496312"/>
          </a:xfrm>
          <a:prstGeom prst="line">
            <a:avLst/>
          </a:prstGeom>
          <a:ln w="25400">
            <a:solidFill>
              <a:srgbClr val="2E6B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0058400" y="2057400"/>
            <a:ext cx="914400" cy="2496312"/>
          </a:xfrm>
          <a:prstGeom prst="line">
            <a:avLst/>
          </a:prstGeom>
          <a:ln w="25400">
            <a:solidFill>
              <a:srgbClr val="2E6B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731520" y="5897880"/>
            <a:ext cx="107899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2E6B39"/>
                </a:solidFill>
                <a:latin typeface="Aptos"/>
              </a:rPr>
              <a:t>Quyết định trọng tâm: public duy nhất FastAPI port 8001; LiteLLM và Qdrant giữ nội bộ.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6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84048"/>
            <a:ext cx="594360" cy="347472"/>
          </a:xfrm>
          <a:prstGeom prst="roundRect">
            <a:avLst/>
          </a:prstGeom>
          <a:solidFill>
            <a:srgbClr val="93D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59436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171917"/>
                </a:solidFill>
                <a:latin typeface="Aptos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329184"/>
            <a:ext cx="713232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500" b="1">
                <a:solidFill>
                  <a:srgbClr val="171917"/>
                </a:solidFill>
                <a:latin typeface="Aptos"/>
              </a:rPr>
              <a:t>Luồng RAG tài liệu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786384"/>
            <a:ext cx="841248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656C65"/>
                </a:solidFill>
                <a:latin typeface="Aptos"/>
              </a:rPr>
              <a:t>Từ upload đến answer có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18288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>
                <a:solidFill>
                  <a:srgbClr val="656C65"/>
                </a:solidFill>
                <a:latin typeface="Aptos"/>
              </a:rPr>
              <a:t>VLLM-PD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446520"/>
            <a:ext cx="100584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56C65"/>
                </a:solidFill>
                <a:latin typeface="Aptos"/>
              </a:rPr>
              <a:t>6/12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423160"/>
            <a:ext cx="1417320" cy="914400"/>
          </a:xfrm>
          <a:prstGeom prst="roundRect">
            <a:avLst/>
          </a:prstGeom>
          <a:solidFill>
            <a:srgbClr val="DDEDDF"/>
          </a:solidFill>
          <a:ln w="12700">
            <a:solidFill>
              <a:srgbClr val="D7D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2542032"/>
            <a:ext cx="1197864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171917"/>
                </a:solidFill>
                <a:latin typeface="Aptos"/>
              </a:rPr>
              <a:t>Upload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2898648"/>
            <a:ext cx="1088136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50" b="0">
                <a:solidFill>
                  <a:srgbClr val="656C65"/>
                </a:solidFill>
                <a:latin typeface="Aptos"/>
              </a:rPr>
              <a:t>PDF/DOCX/ảnh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929384" y="2880360"/>
            <a:ext cx="356616" cy="0"/>
          </a:xfrm>
          <a:prstGeom prst="line">
            <a:avLst/>
          </a:prstGeom>
          <a:ln w="21590">
            <a:solidFill>
              <a:srgbClr val="2E6B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167128" y="2423160"/>
            <a:ext cx="14173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76856" y="2542032"/>
            <a:ext cx="1197864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171917"/>
                </a:solidFill>
                <a:latin typeface="Aptos"/>
              </a:rPr>
              <a:t>Validate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2898648"/>
            <a:ext cx="1088136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50" b="0">
                <a:solidFill>
                  <a:srgbClr val="656C65"/>
                </a:solidFill>
                <a:latin typeface="Aptos"/>
              </a:rPr>
              <a:t>session/file/size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593592" y="2880360"/>
            <a:ext cx="356616" cy="0"/>
          </a:xfrm>
          <a:prstGeom prst="line">
            <a:avLst/>
          </a:prstGeom>
          <a:ln w="21590">
            <a:solidFill>
              <a:srgbClr val="2E6B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831336" y="2423160"/>
            <a:ext cx="14173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41064" y="2542032"/>
            <a:ext cx="1197864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171917"/>
                </a:solidFill>
                <a:latin typeface="Aptos"/>
              </a:rPr>
              <a:t>Docling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95928" y="2898648"/>
            <a:ext cx="1088136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50" b="0">
                <a:solidFill>
                  <a:srgbClr val="656C65"/>
                </a:solidFill>
                <a:latin typeface="Aptos"/>
              </a:rPr>
              <a:t>parse markdown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257800" y="2880360"/>
            <a:ext cx="356616" cy="0"/>
          </a:xfrm>
          <a:prstGeom prst="line">
            <a:avLst/>
          </a:prstGeom>
          <a:ln w="21590">
            <a:solidFill>
              <a:srgbClr val="2E6B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495544" y="2423160"/>
            <a:ext cx="14173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05272" y="2542032"/>
            <a:ext cx="1197864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171917"/>
                </a:solidFill>
                <a:latin typeface="Aptos"/>
              </a:rPr>
              <a:t>BGE-M3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0136" y="2898648"/>
            <a:ext cx="1088136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50" b="0">
                <a:solidFill>
                  <a:srgbClr val="656C65"/>
                </a:solidFill>
                <a:latin typeface="Aptos"/>
              </a:rPr>
              <a:t>embed chunks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922008" y="2880360"/>
            <a:ext cx="356616" cy="0"/>
          </a:xfrm>
          <a:prstGeom prst="line">
            <a:avLst/>
          </a:prstGeom>
          <a:ln w="21590">
            <a:solidFill>
              <a:srgbClr val="2E6B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159752" y="2423160"/>
            <a:ext cx="14173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69480" y="2542032"/>
            <a:ext cx="1197864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171917"/>
                </a:solidFill>
                <a:latin typeface="Aptos"/>
              </a:rPr>
              <a:t>Qdrant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24344" y="2898648"/>
            <a:ext cx="1088136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50" b="0">
                <a:solidFill>
                  <a:srgbClr val="656C65"/>
                </a:solidFill>
                <a:latin typeface="Aptos"/>
              </a:rPr>
              <a:t>store/search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586216" y="2880360"/>
            <a:ext cx="356616" cy="0"/>
          </a:xfrm>
          <a:prstGeom prst="line">
            <a:avLst/>
          </a:prstGeom>
          <a:ln w="21590">
            <a:solidFill>
              <a:srgbClr val="2E6B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823960" y="2423160"/>
            <a:ext cx="14173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33688" y="2542032"/>
            <a:ext cx="1197864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171917"/>
                </a:solidFill>
                <a:latin typeface="Aptos"/>
              </a:rPr>
              <a:t>LiteLLM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88552" y="2898648"/>
            <a:ext cx="1088136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50" b="0">
                <a:solidFill>
                  <a:srgbClr val="656C65"/>
                </a:solidFill>
                <a:latin typeface="Aptos"/>
              </a:rPr>
              <a:t>call model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0250424" y="2880360"/>
            <a:ext cx="356616" cy="0"/>
          </a:xfrm>
          <a:prstGeom prst="line">
            <a:avLst/>
          </a:prstGeom>
          <a:ln w="21590">
            <a:solidFill>
              <a:srgbClr val="2E6B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10488168" y="2423160"/>
            <a:ext cx="1417320" cy="914400"/>
          </a:xfrm>
          <a:prstGeom prst="roundRect">
            <a:avLst/>
          </a:prstGeom>
          <a:solidFill>
            <a:srgbClr val="DDEDDF"/>
          </a:solidFill>
          <a:ln w="12700">
            <a:solidFill>
              <a:srgbClr val="D7D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597896" y="2542032"/>
            <a:ext cx="1197864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171917"/>
                </a:solidFill>
                <a:latin typeface="Aptos"/>
              </a:rPr>
              <a:t>Answer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52760" y="2898648"/>
            <a:ext cx="1088136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50" b="0">
                <a:solidFill>
                  <a:srgbClr val="656C65"/>
                </a:solidFill>
                <a:latin typeface="Aptos"/>
              </a:rPr>
              <a:t>sources + text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143000" y="4160520"/>
            <a:ext cx="44805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371600" y="4361688"/>
            <a:ext cx="40233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2E6B39"/>
                </a:solidFill>
                <a:latin typeface="Aptos"/>
              </a:rPr>
              <a:t>Điểm quan trọng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99032" y="4873752"/>
            <a:ext cx="3977640" cy="384047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02420"/>
                </a:solidFill>
                <a:latin typeface="Aptos"/>
              </a:defRPr>
            </a:pPr>
            <a:r>
              <a:t>Session isolation bằng payload `session_id`</a:t>
            </a:r>
          </a:p>
          <a:p>
            <a:pPr>
              <a:spcAft>
                <a:spcPts val="800"/>
              </a:spcAft>
              <a:defRPr sz="1600">
                <a:solidFill>
                  <a:srgbClr val="202420"/>
                </a:solidFill>
                <a:latin typeface="Aptos"/>
              </a:defRPr>
            </a:pPr>
            <a:r>
              <a:t>Mỗi câu trả lời trả kèm sources từ Qdrant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4160520"/>
            <a:ext cx="44805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29400" y="4361688"/>
            <a:ext cx="40233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2E6B39"/>
                </a:solidFill>
                <a:latin typeface="Aptos"/>
              </a:rPr>
              <a:t>Research mode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56832" y="4873752"/>
            <a:ext cx="3977640" cy="384047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02420"/>
                </a:solidFill>
                <a:latin typeface="Aptos"/>
              </a:defRPr>
            </a:pPr>
            <a:r>
              <a:t>Mode research lấy nhiều context hơn</a:t>
            </a:r>
          </a:p>
          <a:p>
            <a:pPr>
              <a:spcAft>
                <a:spcPts val="800"/>
              </a:spcAft>
              <a:defRPr sz="1600">
                <a:solidFill>
                  <a:srgbClr val="202420"/>
                </a:solidFill>
                <a:latin typeface="Aptos"/>
              </a:defRPr>
            </a:pPr>
            <a:r>
              <a:t>Prompt yêu cầu tóm tắt, bằng chứng, điểm chưa rõ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6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84048"/>
            <a:ext cx="594360" cy="347472"/>
          </a:xfrm>
          <a:prstGeom prst="roundRect">
            <a:avLst/>
          </a:prstGeom>
          <a:solidFill>
            <a:srgbClr val="93D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59436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171917"/>
                </a:solidFill>
                <a:latin typeface="Aptos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329184"/>
            <a:ext cx="713232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500" b="1">
                <a:solidFill>
                  <a:srgbClr val="171917"/>
                </a:solidFill>
                <a:latin typeface="Aptos"/>
              </a:rPr>
              <a:t>Luồng chọn model và fallback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786384"/>
            <a:ext cx="841248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656C65"/>
                </a:solidFill>
                <a:latin typeface="Aptos"/>
              </a:rPr>
              <a:t>Điều khiển chi phí, độ riêng tư và độ ổn định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18288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>
                <a:solidFill>
                  <a:srgbClr val="656C65"/>
                </a:solidFill>
                <a:latin typeface="Aptos"/>
              </a:rPr>
              <a:t>VLLM-PD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446520"/>
            <a:ext cx="100584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56C65"/>
                </a:solidFill>
                <a:latin typeface="Aptos"/>
              </a:rPr>
              <a:t>7/12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828800"/>
            <a:ext cx="1920240" cy="822960"/>
          </a:xfrm>
          <a:prstGeom prst="roundRect">
            <a:avLst/>
          </a:prstGeom>
          <a:solidFill>
            <a:srgbClr val="DDEDDF"/>
          </a:solidFill>
          <a:ln w="12700">
            <a:solidFill>
              <a:srgbClr val="D7D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7" y="1947672"/>
            <a:ext cx="1700784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1">
                <a:solidFill>
                  <a:srgbClr val="171917"/>
                </a:solidFill>
                <a:latin typeface="Aptos"/>
              </a:rPr>
              <a:t>User chọn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2304288"/>
            <a:ext cx="1591056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50" b="0">
                <a:solidFill>
                  <a:srgbClr val="656C65"/>
                </a:solidFill>
                <a:latin typeface="Aptos"/>
              </a:rPr>
              <a:t>auto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834640" y="2240280"/>
            <a:ext cx="914399" cy="0"/>
          </a:xfrm>
          <a:prstGeom prst="line">
            <a:avLst/>
          </a:prstGeom>
          <a:ln w="25400">
            <a:solidFill>
              <a:srgbClr val="2E6B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840480" y="1143000"/>
            <a:ext cx="192024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50208" y="1261872"/>
            <a:ext cx="1700784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1">
                <a:solidFill>
                  <a:srgbClr val="171917"/>
                </a:solidFill>
                <a:latin typeface="Aptos"/>
              </a:rPr>
              <a:t>Ưu tiên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05072" y="1618488"/>
            <a:ext cx="1591056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50" b="0">
                <a:solidFill>
                  <a:srgbClr val="656C65"/>
                </a:solidFill>
                <a:latin typeface="Aptos"/>
              </a:rPr>
              <a:t>Gemma4 local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806440" y="1554480"/>
            <a:ext cx="914400" cy="0"/>
          </a:xfrm>
          <a:prstGeom prst="line">
            <a:avLst/>
          </a:prstGeom>
          <a:ln w="25400">
            <a:solidFill>
              <a:srgbClr val="2E6B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812280" y="1143000"/>
            <a:ext cx="192024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22008" y="1261872"/>
            <a:ext cx="1700784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1">
                <a:solidFill>
                  <a:srgbClr val="171917"/>
                </a:solidFill>
                <a:latin typeface="Aptos"/>
              </a:rPr>
              <a:t>Fallback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76872" y="1618488"/>
            <a:ext cx="1591056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50" b="0">
                <a:solidFill>
                  <a:srgbClr val="656C65"/>
                </a:solidFill>
                <a:latin typeface="Aptos"/>
              </a:rPr>
              <a:t>MiMo 2.5 Pro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778240" y="1554480"/>
            <a:ext cx="914400" cy="0"/>
          </a:xfrm>
          <a:prstGeom prst="line">
            <a:avLst/>
          </a:prstGeom>
          <a:ln w="25400">
            <a:solidFill>
              <a:srgbClr val="2E6B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784080" y="1143000"/>
            <a:ext cx="16459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93807" y="1261872"/>
            <a:ext cx="1426464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1">
                <a:solidFill>
                  <a:srgbClr val="171917"/>
                </a:solidFill>
                <a:latin typeface="Aptos"/>
              </a:rPr>
              <a:t>Fallback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48672" y="1618488"/>
            <a:ext cx="1316736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50" b="0">
                <a:solidFill>
                  <a:srgbClr val="656C65"/>
                </a:solidFill>
                <a:latin typeface="Aptos"/>
              </a:rPr>
              <a:t>OpenAI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40480" y="3200400"/>
            <a:ext cx="192024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50208" y="3319272"/>
            <a:ext cx="1700784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1">
                <a:solidFill>
                  <a:srgbClr val="171917"/>
                </a:solidFill>
                <a:latin typeface="Aptos"/>
              </a:rPr>
              <a:t>local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05072" y="3675887"/>
            <a:ext cx="1591056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50" b="0">
                <a:solidFill>
                  <a:srgbClr val="656C65"/>
                </a:solidFill>
                <a:latin typeface="Aptos"/>
              </a:rPr>
              <a:t>Chỉ Gemma4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12280" y="3200400"/>
            <a:ext cx="192024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22008" y="3319272"/>
            <a:ext cx="1700784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1">
                <a:solidFill>
                  <a:srgbClr val="171917"/>
                </a:solidFill>
                <a:latin typeface="Aptos"/>
              </a:rPr>
              <a:t>mimo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76872" y="3675887"/>
            <a:ext cx="1591056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50" b="0">
                <a:solidFill>
                  <a:srgbClr val="656C65"/>
                </a:solidFill>
                <a:latin typeface="Aptos"/>
              </a:rPr>
              <a:t>Chỉ MiMo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784080" y="3200400"/>
            <a:ext cx="16459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93807" y="3319272"/>
            <a:ext cx="1426464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1">
                <a:solidFill>
                  <a:srgbClr val="171917"/>
                </a:solidFill>
                <a:latin typeface="Aptos"/>
              </a:rPr>
              <a:t>openai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48672" y="3675887"/>
            <a:ext cx="1316736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50" b="0">
                <a:solidFill>
                  <a:srgbClr val="656C65"/>
                </a:solidFill>
                <a:latin typeface="Aptos"/>
              </a:rPr>
              <a:t>Chỉ OpenAI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97280" y="4800600"/>
            <a:ext cx="97840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53312" y="5056632"/>
            <a:ext cx="9281159" cy="429767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02420"/>
                </a:solidFill>
                <a:latin typeface="Aptos"/>
              </a:defRPr>
            </a:pPr>
            <a:r>
              <a:t>Auto giúp ổn định khi local hoặc cloud gặp lỗi.</a:t>
            </a:r>
          </a:p>
          <a:p>
            <a:pPr>
              <a:spcAft>
                <a:spcPts val="800"/>
              </a:spcAft>
              <a:defRPr sz="1600">
                <a:solidFill>
                  <a:srgbClr val="202420"/>
                </a:solidFill>
                <a:latin typeface="Aptos"/>
              </a:defRPr>
            </a:pPr>
            <a:r>
              <a:t>Chọn trực tiếp model giúp kiểm soát chi phí, độ riêng tư và chất lượng phản hồi.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6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84048"/>
            <a:ext cx="594360" cy="347472"/>
          </a:xfrm>
          <a:prstGeom prst="roundRect">
            <a:avLst/>
          </a:prstGeom>
          <a:solidFill>
            <a:srgbClr val="93D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59436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171917"/>
                </a:solidFill>
                <a:latin typeface="Aptos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329184"/>
            <a:ext cx="713232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500" b="1">
                <a:solidFill>
                  <a:srgbClr val="171917"/>
                </a:solidFill>
                <a:latin typeface="Aptos"/>
              </a:rPr>
              <a:t>Web public và API trên Máy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786384"/>
            <a:ext cx="841248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656C65"/>
                </a:solidFill>
                <a:latin typeface="Aptos"/>
              </a:rPr>
              <a:t>React và FastAPI cùng domain, cùng port 8001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18288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>
                <a:solidFill>
                  <a:srgbClr val="656C65"/>
                </a:solidFill>
                <a:latin typeface="Aptos"/>
              </a:rPr>
              <a:t>VLLM-PD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446520"/>
            <a:ext cx="100584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56C65"/>
                </a:solidFill>
                <a:latin typeface="Aptos"/>
              </a:rPr>
              <a:t>8/12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914400" y="1325880"/>
          <a:ext cx="539496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3474720"/>
              </a:tblGrid>
              <a:tr h="70104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Path</a:t>
                      </a:r>
                    </a:p>
                  </a:txBody>
                  <a:tcPr>
                    <a:solidFill>
                      <a:srgbClr val="1719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Vai trò</a:t>
                      </a:r>
                    </a:p>
                  </a:txBody>
                  <a:tcPr>
                    <a:solidFill>
                      <a:srgbClr val="171917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420"/>
                          </a:solidFill>
                          <a:latin typeface="Aptos"/>
                        </a:rPr>
                        <a:t>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02420"/>
                          </a:solidFill>
                          <a:latin typeface="Aptos"/>
                        </a:rPr>
                        <a:t>React SPA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420"/>
                          </a:solidFill>
                          <a:latin typeface="Aptos"/>
                        </a:rPr>
                        <a:t>/health, /models</a:t>
                      </a:r>
                    </a:p>
                  </a:txBody>
                  <a:tcPr>
                    <a:solidFill>
                      <a:srgbClr val="F0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02420"/>
                          </a:solidFill>
                          <a:latin typeface="Aptos"/>
                        </a:rPr>
                        <a:t>trạng thái và model selector</a:t>
                      </a:r>
                    </a:p>
                  </a:txBody>
                  <a:tcPr>
                    <a:solidFill>
                      <a:srgbClr val="F0F3EE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420"/>
                          </a:solidFill>
                          <a:latin typeface="Aptos"/>
                        </a:rPr>
                        <a:t>/sessions, /upload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02420"/>
                          </a:solidFill>
                          <a:latin typeface="Aptos"/>
                        </a:rPr>
                        <a:t>quản lý phiên và tài liệu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420"/>
                          </a:solidFill>
                          <a:latin typeface="Aptos"/>
                        </a:rPr>
                        <a:t>/query/stream</a:t>
                      </a:r>
                    </a:p>
                  </a:txBody>
                  <a:tcPr>
                    <a:solidFill>
                      <a:srgbClr val="F0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02420"/>
                          </a:solidFill>
                          <a:latin typeface="Aptos"/>
                        </a:rPr>
                        <a:t>SSE streaming token + sources</a:t>
                      </a:r>
                    </a:p>
                  </a:txBody>
                  <a:tcPr>
                    <a:solidFill>
                      <a:srgbClr val="F0F3EE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420"/>
                          </a:solidFill>
                          <a:latin typeface="Aptos"/>
                        </a:rPr>
                        <a:t>/agent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02420"/>
                          </a:solidFill>
                          <a:latin typeface="Aptos"/>
                        </a:rPr>
                        <a:t>Coding Agent có API key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406640" y="1645920"/>
            <a:ext cx="25603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16367" y="1764792"/>
            <a:ext cx="2340863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1">
                <a:solidFill>
                  <a:srgbClr val="171917"/>
                </a:solidFill>
                <a:latin typeface="Aptos"/>
              </a:rPr>
              <a:t>ngrok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71231" y="2121408"/>
            <a:ext cx="2231136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50" b="0">
                <a:solidFill>
                  <a:srgbClr val="656C65"/>
                </a:solidFill>
                <a:latin typeface="Aptos"/>
              </a:rPr>
              <a:t>HTTPS public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86800" y="2578608"/>
            <a:ext cx="0" cy="576072"/>
          </a:xfrm>
          <a:prstGeom prst="line">
            <a:avLst/>
          </a:prstGeom>
          <a:ln w="25400">
            <a:solidFill>
              <a:srgbClr val="2E6B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406640" y="3200400"/>
            <a:ext cx="25603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16367" y="3319272"/>
            <a:ext cx="2340863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1">
                <a:solidFill>
                  <a:srgbClr val="171917"/>
                </a:solidFill>
                <a:latin typeface="Aptos"/>
              </a:rPr>
              <a:t>FastAPI :8001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71231" y="3675887"/>
            <a:ext cx="2231136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50" b="0">
                <a:solidFill>
                  <a:srgbClr val="656C65"/>
                </a:solidFill>
                <a:latin typeface="Aptos"/>
              </a:rPr>
              <a:t>web + API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686800" y="4133087"/>
            <a:ext cx="0" cy="576073"/>
          </a:xfrm>
          <a:prstGeom prst="line">
            <a:avLst/>
          </a:prstGeom>
          <a:ln w="25400">
            <a:solidFill>
              <a:srgbClr val="2E6B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406640" y="4754880"/>
            <a:ext cx="25603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16367" y="4873752"/>
            <a:ext cx="2340863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1">
                <a:solidFill>
                  <a:srgbClr val="171917"/>
                </a:solidFill>
                <a:latin typeface="Aptos"/>
              </a:rPr>
              <a:t>Internal services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71231" y="5230368"/>
            <a:ext cx="2231136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50" b="0">
                <a:solidFill>
                  <a:srgbClr val="656C65"/>
                </a:solidFill>
                <a:latin typeface="Aptos"/>
              </a:rPr>
              <a:t>LiteLLM + Qdrant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6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84048"/>
            <a:ext cx="594360" cy="347472"/>
          </a:xfrm>
          <a:prstGeom prst="roundRect">
            <a:avLst/>
          </a:prstGeom>
          <a:solidFill>
            <a:srgbClr val="93D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59436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171917"/>
                </a:solidFill>
                <a:latin typeface="Aptos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329184"/>
            <a:ext cx="713232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500" b="1">
                <a:solidFill>
                  <a:srgbClr val="171917"/>
                </a:solidFill>
                <a:latin typeface="Aptos"/>
              </a:rPr>
              <a:t>Coding Agent + MCP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786384"/>
            <a:ext cx="841248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656C65"/>
                </a:solidFill>
                <a:latin typeface="Aptos"/>
              </a:rPr>
              <a:t>Một API riêng cho tác vụ lập trình có tool filesystem/git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18288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>
                <a:solidFill>
                  <a:srgbClr val="656C65"/>
                </a:solidFill>
                <a:latin typeface="Aptos"/>
              </a:rPr>
              <a:t>VLLM-PD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446520"/>
            <a:ext cx="100584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56C65"/>
                </a:solidFill>
                <a:latin typeface="Aptos"/>
              </a:rPr>
              <a:t>9/12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1920240"/>
            <a:ext cx="1737360" cy="868680"/>
          </a:xfrm>
          <a:prstGeom prst="roundRect">
            <a:avLst/>
          </a:prstGeom>
          <a:solidFill>
            <a:srgbClr val="DDEDDF"/>
          </a:solidFill>
          <a:ln w="12700">
            <a:solidFill>
              <a:srgbClr val="D7D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039112"/>
            <a:ext cx="1517904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171917"/>
                </a:solidFill>
                <a:latin typeface="Aptos"/>
              </a:rPr>
              <a:t>Client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2395728"/>
            <a:ext cx="1408176" cy="301751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50" b="0">
                <a:solidFill>
                  <a:srgbClr val="656C65"/>
                </a:solidFill>
                <a:latin typeface="Aptos"/>
              </a:rPr>
              <a:t>POST /agent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2359152"/>
            <a:ext cx="411480" cy="0"/>
          </a:xfrm>
          <a:prstGeom prst="line">
            <a:avLst/>
          </a:prstGeom>
          <a:ln w="25400">
            <a:solidFill>
              <a:srgbClr val="2E6B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71800" y="1920240"/>
            <a:ext cx="17373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81528" y="2039112"/>
            <a:ext cx="1517904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171917"/>
                </a:solidFill>
                <a:latin typeface="Aptos"/>
              </a:rPr>
              <a:t>Auth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36392" y="2395728"/>
            <a:ext cx="1408176" cy="301751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50" b="0">
                <a:solidFill>
                  <a:srgbClr val="656C65"/>
                </a:solidFill>
                <a:latin typeface="Aptos"/>
              </a:rPr>
              <a:t>X-Agent-API-Key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709160" y="2359152"/>
            <a:ext cx="411480" cy="0"/>
          </a:xfrm>
          <a:prstGeom prst="line">
            <a:avLst/>
          </a:prstGeom>
          <a:ln w="25400">
            <a:solidFill>
              <a:srgbClr val="2E6B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029200" y="1920240"/>
            <a:ext cx="17373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38928" y="2039112"/>
            <a:ext cx="1517904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171917"/>
                </a:solidFill>
                <a:latin typeface="Aptos"/>
              </a:rPr>
              <a:t>LangGraph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93792" y="2395728"/>
            <a:ext cx="1408176" cy="301751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50" b="0">
                <a:solidFill>
                  <a:srgbClr val="656C65"/>
                </a:solidFill>
                <a:latin typeface="Aptos"/>
              </a:rPr>
              <a:t>agent loop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766560" y="2359152"/>
            <a:ext cx="411480" cy="0"/>
          </a:xfrm>
          <a:prstGeom prst="line">
            <a:avLst/>
          </a:prstGeom>
          <a:ln w="25400">
            <a:solidFill>
              <a:srgbClr val="2E6B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086600" y="1920240"/>
            <a:ext cx="17373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96328" y="2039112"/>
            <a:ext cx="1517904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171917"/>
                </a:solidFill>
                <a:latin typeface="Aptos"/>
              </a:rPr>
              <a:t>LiteLLM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51192" y="2395728"/>
            <a:ext cx="1408176" cy="301751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50" b="0">
                <a:solidFill>
                  <a:srgbClr val="656C65"/>
                </a:solidFill>
                <a:latin typeface="Aptos"/>
              </a:rPr>
              <a:t>coding-model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823960" y="2359152"/>
            <a:ext cx="411480" cy="0"/>
          </a:xfrm>
          <a:prstGeom prst="line">
            <a:avLst/>
          </a:prstGeom>
          <a:ln w="25400">
            <a:solidFill>
              <a:srgbClr val="2E6B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144000" y="1920240"/>
            <a:ext cx="1737360" cy="868680"/>
          </a:xfrm>
          <a:prstGeom prst="roundRect">
            <a:avLst/>
          </a:prstGeom>
          <a:solidFill>
            <a:srgbClr val="DDEDDF"/>
          </a:solidFill>
          <a:ln w="12700">
            <a:solidFill>
              <a:srgbClr val="D7D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53728" y="2039112"/>
            <a:ext cx="1517904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171917"/>
                </a:solidFill>
                <a:latin typeface="Aptos"/>
              </a:rPr>
              <a:t>MCP tools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08592" y="2395728"/>
            <a:ext cx="1408176" cy="301751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50" b="0">
                <a:solidFill>
                  <a:srgbClr val="656C65"/>
                </a:solidFill>
                <a:latin typeface="Aptos"/>
              </a:rPr>
              <a:t>filesystem + git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0120" y="3749039"/>
            <a:ext cx="47548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3950207"/>
            <a:ext cx="42976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2E6B39"/>
                </a:solidFill>
                <a:latin typeface="Aptos"/>
              </a:rPr>
              <a:t>Ranh giới bảo mật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4462272"/>
            <a:ext cx="4251960" cy="566927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02420"/>
                </a:solidFill>
                <a:latin typeface="Aptos"/>
              </a:defRPr>
            </a:pPr>
            <a:r>
              <a:t>Filesystem MCP chỉ trong WORKSPACE_DIR</a:t>
            </a:r>
          </a:p>
          <a:p>
            <a:pPr>
              <a:spcAft>
                <a:spcPts val="800"/>
              </a:spcAft>
              <a:defRPr sz="1600">
                <a:solidFill>
                  <a:srgbClr val="202420"/>
                </a:solidFill>
                <a:latin typeface="Aptos"/>
              </a:defRPr>
            </a:pPr>
            <a:r>
              <a:t>Git MCP khóa vào AGENT_REPOSITORY_DIR</a:t>
            </a:r>
          </a:p>
          <a:p>
            <a:pPr>
              <a:spcAft>
                <a:spcPts val="800"/>
              </a:spcAft>
              <a:defRPr sz="1600">
                <a:solidFill>
                  <a:srgbClr val="202420"/>
                </a:solidFill>
                <a:latin typeface="Aptos"/>
              </a:defRPr>
            </a:pPr>
            <a:r>
              <a:t>Không có key: trả 401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46520" y="3749039"/>
            <a:ext cx="47548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0" y="3950207"/>
            <a:ext cx="42976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2E6B39"/>
                </a:solidFill>
                <a:latin typeface="Aptos"/>
              </a:rPr>
              <a:t>Vận hành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02552" y="4462272"/>
            <a:ext cx="4251960" cy="566927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02420"/>
                </a:solidFill>
                <a:latin typeface="Aptos"/>
              </a:defRPr>
            </a:pPr>
            <a:r>
              <a:t>Agent dùng Gemma4 qua coding-model</a:t>
            </a:r>
          </a:p>
          <a:p>
            <a:pPr>
              <a:spcAft>
                <a:spcPts val="800"/>
              </a:spcAft>
              <a:defRPr sz="1600">
                <a:solidFill>
                  <a:srgbClr val="202420"/>
                </a:solidFill>
                <a:latin typeface="Aptos"/>
              </a:defRPr>
            </a:pPr>
            <a:r>
              <a:t>Fallback OpenAI khi local fail</a:t>
            </a:r>
          </a:p>
          <a:p>
            <a:pPr>
              <a:spcAft>
                <a:spcPts val="800"/>
              </a:spcAft>
              <a:defRPr sz="1600">
                <a:solidFill>
                  <a:srgbClr val="202420"/>
                </a:solidFill>
                <a:latin typeface="Aptos"/>
              </a:defRPr>
            </a:pPr>
            <a:r>
              <a:t>Output được chuẩn hóa thành text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6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84048"/>
            <a:ext cx="594360" cy="347472"/>
          </a:xfrm>
          <a:prstGeom prst="roundRect">
            <a:avLst/>
          </a:prstGeom>
          <a:solidFill>
            <a:srgbClr val="93D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59436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171917"/>
                </a:solidFill>
                <a:latin typeface="Aptos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329184"/>
            <a:ext cx="713232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500" b="1">
                <a:solidFill>
                  <a:srgbClr val="171917"/>
                </a:solidFill>
                <a:latin typeface="Aptos"/>
              </a:rPr>
              <a:t>Bảo mật và vận hành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786384"/>
            <a:ext cx="841248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656C65"/>
                </a:solidFill>
                <a:latin typeface="Aptos"/>
              </a:rPr>
              <a:t>Các ranh giới bảo vệ khi public web/API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18288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>
                <a:solidFill>
                  <a:srgbClr val="656C65"/>
                </a:solidFill>
                <a:latin typeface="Aptos"/>
              </a:rPr>
              <a:t>VLLM-PD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446520"/>
            <a:ext cx="100584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56C65"/>
                </a:solidFill>
                <a:latin typeface="Aptos"/>
              </a:rPr>
              <a:t>10/12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417320"/>
            <a:ext cx="52578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618488"/>
            <a:ext cx="4800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2E6B39"/>
                </a:solidFill>
                <a:latin typeface="Aptos"/>
              </a:rPr>
              <a:t>Security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2130552"/>
            <a:ext cx="4754880" cy="353872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02420"/>
                </a:solidFill>
                <a:latin typeface="Aptos"/>
              </a:defRPr>
            </a:pPr>
            <a:r>
              <a:t>.env bị ignore, không commit API key</a:t>
            </a:r>
          </a:p>
          <a:p>
            <a:pPr>
              <a:spcAft>
                <a:spcPts val="800"/>
              </a:spcAft>
              <a:defRPr sz="1500">
                <a:solidFill>
                  <a:srgbClr val="202420"/>
                </a:solidFill>
                <a:latin typeface="Aptos"/>
              </a:defRPr>
            </a:pPr>
            <a:r>
              <a:t>Validate UUID session ID</a:t>
            </a:r>
          </a:p>
          <a:p>
            <a:pPr>
              <a:spcAft>
                <a:spcPts val="800"/>
              </a:spcAft>
              <a:defRPr sz="1500">
                <a:solidFill>
                  <a:srgbClr val="202420"/>
                </a:solidFill>
                <a:latin typeface="Aptos"/>
              </a:defRPr>
            </a:pPr>
            <a:r>
              <a:t>Chặn path traversal qua filename validation</a:t>
            </a:r>
          </a:p>
          <a:p>
            <a:pPr>
              <a:spcAft>
                <a:spcPts val="800"/>
              </a:spcAft>
              <a:defRPr sz="1500">
                <a:solidFill>
                  <a:srgbClr val="202420"/>
                </a:solidFill>
                <a:latin typeface="Aptos"/>
              </a:defRPr>
            </a:pPr>
            <a:r>
              <a:t>Allowlist extension upload</a:t>
            </a:r>
          </a:p>
          <a:p>
            <a:pPr>
              <a:spcAft>
                <a:spcPts val="800"/>
              </a:spcAft>
              <a:defRPr sz="1500">
                <a:solidFill>
                  <a:srgbClr val="202420"/>
                </a:solidFill>
                <a:latin typeface="Aptos"/>
              </a:defRPr>
            </a:pPr>
            <a:r>
              <a:t>25 MB/file, 15 query/IP/phút, 10 upload/IP/giờ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417320"/>
            <a:ext cx="50749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618488"/>
            <a:ext cx="46177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2E6B39"/>
                </a:solidFill>
                <a:latin typeface="Aptos"/>
              </a:rPr>
              <a:t>Operations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2130552"/>
            <a:ext cx="4572000" cy="353872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02420"/>
                </a:solidFill>
                <a:latin typeface="Aptos"/>
              </a:defRPr>
            </a:pPr>
            <a:r>
              <a:t>Docker Compose: Qdrant + LiteLLM</a:t>
            </a:r>
          </a:p>
          <a:p>
            <a:pPr>
              <a:spcAft>
                <a:spcPts val="800"/>
              </a:spcAft>
              <a:defRPr sz="1500">
                <a:solidFill>
                  <a:srgbClr val="202420"/>
                </a:solidFill>
                <a:latin typeface="Aptos"/>
              </a:defRPr>
            </a:pPr>
            <a:r>
              <a:t>systemd user service: FastAPI + React</a:t>
            </a:r>
          </a:p>
          <a:p>
            <a:pPr>
              <a:spcAft>
                <a:spcPts val="800"/>
              </a:spcAft>
              <a:defRPr sz="1500">
                <a:solidFill>
                  <a:srgbClr val="202420"/>
                </a:solidFill>
                <a:latin typeface="Aptos"/>
              </a:defRPr>
            </a:pPr>
            <a:r>
              <a:t>Linger enabled để service chạy sau logout</a:t>
            </a:r>
          </a:p>
          <a:p>
            <a:pPr>
              <a:spcAft>
                <a:spcPts val="800"/>
              </a:spcAft>
              <a:defRPr sz="1500">
                <a:solidFill>
                  <a:srgbClr val="202420"/>
                </a:solidFill>
                <a:latin typeface="Aptos"/>
              </a:defRPr>
            </a:pPr>
            <a:r>
              <a:t>LiteLLM không public port 4000</a:t>
            </a:r>
          </a:p>
          <a:p>
            <a:pPr>
              <a:spcAft>
                <a:spcPts val="800"/>
              </a:spcAft>
              <a:defRPr sz="1500">
                <a:solidFill>
                  <a:srgbClr val="202420"/>
                </a:solidFill>
                <a:latin typeface="Aptos"/>
              </a:defRPr>
            </a:pPr>
            <a:r>
              <a:t>Log bằng journalctl và docker compose logs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6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84048"/>
            <a:ext cx="594360" cy="347472"/>
          </a:xfrm>
          <a:prstGeom prst="roundRect">
            <a:avLst/>
          </a:prstGeom>
          <a:solidFill>
            <a:srgbClr val="93D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59436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171917"/>
                </a:solidFill>
                <a:latin typeface="Aptos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329184"/>
            <a:ext cx="713232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500" b="1">
                <a:solidFill>
                  <a:srgbClr val="171917"/>
                </a:solidFill>
                <a:latin typeface="Aptos"/>
              </a:rPr>
              <a:t>Kết quả kiểm thử /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786384"/>
            <a:ext cx="841248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656C65"/>
                </a:solidFill>
                <a:latin typeface="Aptos"/>
              </a:rPr>
              <a:t>Các kiểm thử đã chạy end-to-end trên Máy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18288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>
                <a:solidFill>
                  <a:srgbClr val="656C65"/>
                </a:solidFill>
                <a:latin typeface="Aptos"/>
              </a:rPr>
              <a:t>VLLM-PD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446520"/>
            <a:ext cx="100584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56C65"/>
                </a:solidFill>
                <a:latin typeface="Aptos"/>
              </a:rPr>
              <a:t>11/12</a:t>
            </a:r>
          </a:p>
        </p:txBody>
      </p:sp>
      <p:pic>
        <p:nvPicPr>
          <p:cNvPr id="10" name="Picture 9" descr="vllmpd-desktop-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5760720" cy="3240405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812280" y="1280160"/>
            <a:ext cx="44805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0" y="1481328"/>
            <a:ext cx="40233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2E6B39"/>
                </a:solidFill>
                <a:latin typeface="Aptos"/>
              </a:rPr>
              <a:t>Kết quả đã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68312" y="1993391"/>
            <a:ext cx="3977640" cy="353872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02420"/>
                </a:solidFill>
                <a:latin typeface="Aptos"/>
              </a:defRPr>
            </a:pPr>
            <a:r>
              <a:t>React build production thành công</a:t>
            </a:r>
          </a:p>
          <a:p>
            <a:pPr>
              <a:spcAft>
                <a:spcPts val="800"/>
              </a:spcAft>
              <a:defRPr sz="1500">
                <a:solidFill>
                  <a:srgbClr val="202420"/>
                </a:solidFill>
                <a:latin typeface="Aptos"/>
              </a:defRPr>
            </a:pPr>
            <a:r>
              <a:t>UI desktop/mobile kiểm tra bằng Playwright</a:t>
            </a:r>
          </a:p>
          <a:p>
            <a:pPr>
              <a:spcAft>
                <a:spcPts val="800"/>
              </a:spcAft>
              <a:defRPr sz="1500">
                <a:solidFill>
                  <a:srgbClr val="202420"/>
                </a:solidFill>
                <a:latin typeface="Aptos"/>
              </a:defRPr>
            </a:pPr>
            <a:r>
              <a:t>LiteLLM nhận 5 model groups</a:t>
            </a:r>
          </a:p>
          <a:p>
            <a:pPr>
              <a:spcAft>
                <a:spcPts val="800"/>
              </a:spcAft>
              <a:defRPr sz="1500">
                <a:solidFill>
                  <a:srgbClr val="202420"/>
                </a:solidFill>
                <a:latin typeface="Aptos"/>
              </a:defRPr>
            </a:pPr>
            <a:r>
              <a:t>Gemma4, MiMo SGP, OpenAI gọi được</a:t>
            </a:r>
          </a:p>
          <a:p>
            <a:pPr>
              <a:spcAft>
                <a:spcPts val="800"/>
              </a:spcAft>
              <a:defRPr sz="1500">
                <a:solidFill>
                  <a:srgbClr val="202420"/>
                </a:solidFill>
                <a:latin typeface="Aptos"/>
              </a:defRPr>
            </a:pPr>
            <a:r>
              <a:t>Upload test1.pdf -&gt; 3 chunks</a:t>
            </a:r>
          </a:p>
          <a:p>
            <a:pPr>
              <a:spcAft>
                <a:spcPts val="800"/>
              </a:spcAft>
              <a:defRPr sz="1500">
                <a:solidFill>
                  <a:srgbClr val="202420"/>
                </a:solidFill>
                <a:latin typeface="Aptos"/>
              </a:defRPr>
            </a:pPr>
            <a:r>
              <a:t>/agent có key: 200; không key: 401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6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84048"/>
            <a:ext cx="594360" cy="347472"/>
          </a:xfrm>
          <a:prstGeom prst="roundRect">
            <a:avLst/>
          </a:prstGeom>
          <a:solidFill>
            <a:srgbClr val="93D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59436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171917"/>
                </a:solidFill>
                <a:latin typeface="Aptos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329184"/>
            <a:ext cx="713232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500" b="1">
                <a:solidFill>
                  <a:srgbClr val="171917"/>
                </a:solidFill>
                <a:latin typeface="Aptos"/>
              </a:rPr>
              <a:t>Trade-off và hướng phát triển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786384"/>
            <a:ext cx="841248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656C65"/>
                </a:solidFill>
                <a:latin typeface="Aptos"/>
              </a:rPr>
              <a:t>Những điểm đã chốt và các bước nâng cấp tiếp theo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18288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>
                <a:solidFill>
                  <a:srgbClr val="656C65"/>
                </a:solidFill>
                <a:latin typeface="Aptos"/>
              </a:rPr>
              <a:t>VLLM-PD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446520"/>
            <a:ext cx="100584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56C65"/>
                </a:solidFill>
                <a:latin typeface="Aptos"/>
              </a:rPr>
              <a:t>12/12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417320"/>
            <a:ext cx="51206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618488"/>
            <a:ext cx="46634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2E6B39"/>
                </a:solidFill>
                <a:latin typeface="Aptos"/>
              </a:rPr>
              <a:t>Trade-off hiện tại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2130552"/>
            <a:ext cx="4617720" cy="33558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02420"/>
                </a:solidFill>
                <a:latin typeface="Aptos"/>
              </a:defRPr>
            </a:pPr>
            <a:r>
              <a:t>Ngrok URL có thể thay đổi</a:t>
            </a:r>
          </a:p>
          <a:p>
            <a:pPr>
              <a:spcAft>
                <a:spcPts val="800"/>
              </a:spcAft>
              <a:defRPr sz="1600">
                <a:solidFill>
                  <a:srgbClr val="202420"/>
                </a:solidFill>
                <a:latin typeface="Aptos"/>
              </a:defRPr>
            </a:pPr>
            <a:r>
              <a:t>Rate limit hiện là in-memory</a:t>
            </a:r>
          </a:p>
          <a:p>
            <a:pPr>
              <a:spcAft>
                <a:spcPts val="800"/>
              </a:spcAft>
              <a:defRPr sz="1600">
                <a:solidFill>
                  <a:srgbClr val="202420"/>
                </a:solidFill>
                <a:latin typeface="Aptos"/>
              </a:defRPr>
            </a:pPr>
            <a:r>
              <a:t>Chưa có login/user history riêng</a:t>
            </a:r>
          </a:p>
          <a:p>
            <a:pPr>
              <a:spcAft>
                <a:spcPts val="800"/>
              </a:spcAft>
              <a:defRPr sz="1600">
                <a:solidFill>
                  <a:srgbClr val="202420"/>
                </a:solidFill>
                <a:latin typeface="Aptos"/>
              </a:defRPr>
            </a:pPr>
            <a:r>
              <a:t>Upload lớn nên có job queue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417320"/>
            <a:ext cx="51206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618488"/>
            <a:ext cx="46634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2E6B39"/>
                </a:solidFill>
                <a:latin typeface="Aptos"/>
              </a:rPr>
              <a:t>Hướng phát triển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9672" y="2130552"/>
            <a:ext cx="4617720" cy="33558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02420"/>
                </a:solidFill>
                <a:latin typeface="Aptos"/>
              </a:defRPr>
            </a:pPr>
            <a:r>
              <a:t>Domain cố định</a:t>
            </a:r>
          </a:p>
          <a:p>
            <a:pPr>
              <a:spcAft>
                <a:spcPts val="800"/>
              </a:spcAft>
              <a:defRPr sz="1500">
                <a:solidFill>
                  <a:srgbClr val="202420"/>
                </a:solidFill>
                <a:latin typeface="Aptos"/>
              </a:defRPr>
            </a:pPr>
            <a:r>
              <a:t>Auth/user management</a:t>
            </a:r>
          </a:p>
          <a:p>
            <a:pPr>
              <a:spcAft>
                <a:spcPts val="800"/>
              </a:spcAft>
              <a:defRPr sz="1500">
                <a:solidFill>
                  <a:srgbClr val="202420"/>
                </a:solidFill>
                <a:latin typeface="Aptos"/>
              </a:defRPr>
            </a:pPr>
            <a:r>
              <a:t>Redis rate limit</a:t>
            </a:r>
          </a:p>
          <a:p>
            <a:pPr>
              <a:spcAft>
                <a:spcPts val="800"/>
              </a:spcAft>
              <a:defRPr sz="1500">
                <a:solidFill>
                  <a:srgbClr val="202420"/>
                </a:solidFill>
                <a:latin typeface="Aptos"/>
              </a:defRPr>
            </a:pPr>
            <a:r>
              <a:t>Lưu lịch sử hội thoại</a:t>
            </a:r>
          </a:p>
          <a:p>
            <a:pPr>
              <a:spcAft>
                <a:spcPts val="800"/>
              </a:spcAft>
              <a:defRPr sz="1500">
                <a:solidFill>
                  <a:srgbClr val="202420"/>
                </a:solidFill>
                <a:latin typeface="Aptos"/>
              </a:defRPr>
            </a:pPr>
            <a:r>
              <a:t>Metrics/log dashboard</a:t>
            </a:r>
          </a:p>
          <a:p>
            <a:pPr>
              <a:spcAft>
                <a:spcPts val="800"/>
              </a:spcAft>
              <a:defRPr sz="1500">
                <a:solidFill>
                  <a:srgbClr val="202420"/>
                </a:solidFill>
                <a:latin typeface="Aptos"/>
              </a:defRPr>
            </a:pPr>
            <a:r>
              <a:t>Queue cho parse/index tài liệu lớn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989320"/>
            <a:ext cx="100584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2E6B39"/>
                </a:solidFill>
                <a:latin typeface="Aptos"/>
              </a:rPr>
              <a:t>Thông điệp kết: hệ thống đã chạy end-to-end, còn các bước nâng cấp để tiến gần production hơn.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